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-914400"/>
            <a:ext cx="4023360" cy="4023360"/>
          </a:xfrm>
          <a:prstGeom prst="ellipse">
            <a:avLst/>
          </a:prstGeom>
          <a:solidFill>
            <a:srgbClr val="18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3840480"/>
            <a:ext cx="3291840" cy="3291840"/>
          </a:xfrm>
          <a:prstGeom prst="ellipse">
            <a:avLst/>
          </a:prstGeom>
          <a:solidFill>
            <a:srgbClr val="15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640080"/>
            <a:ext cx="2377440" cy="2377440"/>
          </a:xfrm>
          <a:prstGeom prst="ellipse">
            <a:avLst/>
          </a:prstGeom>
          <a:solidFill>
            <a:srgbClr val="30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731520"/>
            <a:ext cx="5760720" cy="13716"/>
          </a:xfrm>
          <a:prstGeom prst="rect">
            <a:avLst/>
          </a:prstGeom>
          <a:solidFill>
            <a:srgbClr val="7C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868680"/>
            <a:ext cx="3017520" cy="347472"/>
          </a:xfrm>
          <a:prstGeom prst="roundRect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87782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0"/>
                </a:solidFill>
              </a:rPr>
              <a:t>2026.06.01  ·  HRO GROUP  ·  新员工入职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0F0F5"/>
                </a:solidFill>
              </a:rPr>
              <a:t>今日解锁</a:t>
            </a:r>
          </a:p>
          <a:p>
            <a:pPr algn="ctr">
              <a:spcAft>
                <a:spcPts val="400"/>
              </a:spcAft>
            </a:pPr>
            <a:r>
              <a:rPr sz="6400" b="1" i="0">
                <a:solidFill>
                  <a:srgbClr val="F0F0F5"/>
                </a:solidFill>
              </a:rPr>
              <a:t>三位新伙伴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0175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88A0"/>
                </a:solidFill>
              </a:rPr>
              <a:t>他们来了，带着各自的故事和武器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840480"/>
            <a:ext cx="3108960" cy="246888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3840480"/>
            <a:ext cx="3108960" cy="73152"/>
          </a:xfrm>
          <a:prstGeom prst="rect">
            <a:avLst/>
          </a:prstGeom>
          <a:solidFill>
            <a:srgbClr val="7C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57400" y="3611880"/>
            <a:ext cx="1188720" cy="1188720"/>
          </a:xfrm>
          <a:prstGeom prst="ellipse">
            <a:avLst/>
          </a:prstGeom>
          <a:ln>
            <a:noFill/>
          </a:ln>
          <a:blipFill dpi="0"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73FF"/>
                </a:solidFill>
              </a:rPr>
              <a:t>安子玥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49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A0"/>
                </a:solidFill>
              </a:rPr>
              <a:t>法律人的浪漫
是让规则保护人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840480"/>
            <a:ext cx="3108960" cy="246888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3840480"/>
            <a:ext cx="3108960" cy="73152"/>
          </a:xfrm>
          <a:prstGeom prst="rect">
            <a:avLst/>
          </a:prstGeom>
          <a:solidFill>
            <a:srgbClr val="FF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23560" y="3611880"/>
            <a:ext cx="1188720" cy="1188720"/>
          </a:xfrm>
          <a:prstGeom prst="ellipse">
            <a:avLst/>
          </a:prstGeom>
          <a:ln>
            <a:noFill/>
          </a:ln>
          <a:blipFill dpi="0" rotWithShape="0">
            <a:blip r:embed="rId3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937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7575"/>
                </a:solidFill>
              </a:rPr>
              <a:t>陈  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349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A0"/>
                </a:solidFill>
              </a:rPr>
              <a:t>广告人+数据人
= 一种很新的管培生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840480"/>
            <a:ext cx="3108960" cy="246888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840480"/>
            <a:ext cx="3108960" cy="73152"/>
          </a:xfrm>
          <a:prstGeom prst="rect">
            <a:avLst/>
          </a:prstGeom>
          <a:solidFill>
            <a:srgbClr val="4EF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89720" y="3611880"/>
            <a:ext cx="1188720" cy="1188720"/>
          </a:xfrm>
          <a:prstGeom prst="ellipse">
            <a:avLst/>
          </a:prstGeom>
          <a:ln>
            <a:noFill/>
          </a:ln>
          <a:blipFill dpi="0" rotWithShape="0"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937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EF085"/>
                </a:solidFill>
              </a:rPr>
              <a:t>陈双杰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349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A0"/>
                </a:solidFill>
              </a:rPr>
              <a:t>用数据说话
但不是只和数据说话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A0"/>
                </a:solidFill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E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051560"/>
            <a:ext cx="2468880" cy="2468880"/>
          </a:xfrm>
          <a:prstGeom prst="ellipse">
            <a:avLst/>
          </a:prstGeom>
          <a:ln>
            <a:noFill/>
          </a:ln>
          <a:blipFill dpi="0"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0F0F5"/>
                </a:solidFill>
              </a:rPr>
              <a:t>安子玥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434840"/>
            <a:ext cx="1645920" cy="292608"/>
          </a:xfrm>
          <a:prstGeom prst="roundRect">
            <a:avLst/>
          </a:prstGeom>
          <a:solidFill>
            <a:srgbClr val="7C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管培生 · 法务方向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377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C73FF"/>
                </a:solidFill>
              </a:rPr>
              <a:t>「持证上岗的法律浪漫主义者」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8888A0"/>
                </a:solidFill>
              </a:rPr>
              <a:t>—— 手握A证、心向正义的准法师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NEW MEMBER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48640"/>
            <a:ext cx="652179340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0F5"/>
                </a:solidFill>
              </a:rPr>
              <a:t>为什么选她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097280"/>
            <a:ext cx="6858000" cy="9601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73FF"/>
                </a:solidFill>
              </a:rPr>
              <a:t>🏛  法考A证 + 期货/基金从业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53619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三重资质加持，不是只会背法条的人，懂金融市场的法律人才更稀缺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194560"/>
            <a:ext cx="6858000" cy="9601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28600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73FF"/>
                </a:solidFill>
              </a:rPr>
              <a:t>⚡  嘉驰国际实习高密度输出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3347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日审8-10份合同、识别风险点150+个、准确率95%——这是练过的节奏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291839"/>
            <a:ext cx="6858000" cy="9601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383279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73FF"/>
                </a:solidFill>
              </a:rPr>
              <a:t>🎯  学术+实务双线并行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730751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上师大法硕在读 + 两家律所实战，能写论文也能上谈判桌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572000"/>
            <a:ext cx="1783080" cy="292608"/>
          </a:xfrm>
          <a:prstGeom prst="roundRect">
            <a:avLst/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上海师范大学 · 法硕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572000"/>
            <a:ext cx="2057400" cy="292608"/>
          </a:xfrm>
          <a:prstGeom prst="roundRect">
            <a:avLst/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山东政法学院 · 法学本科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572000"/>
            <a:ext cx="1508760" cy="292608"/>
          </a:xfrm>
          <a:prstGeom prst="roundRect">
            <a:avLst/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IELTS 6.5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572000"/>
            <a:ext cx="1234440" cy="292608"/>
          </a:xfrm>
          <a:prstGeom prst="roundRect">
            <a:avLst/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IPO合规经验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💬  同事可以找她聊：合同条款里的文字游戏、金融法律交叉话题、怎么一次过法考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5943600"/>
            <a:ext cx="6858000" cy="13716"/>
          </a:xfrm>
          <a:prstGeom prst="rect">
            <a:avLst/>
          </a:prstGeom>
          <a:solidFill>
            <a:srgbClr val="7C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6035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0F5"/>
                </a:solidFill>
              </a:rPr>
              <a:t>入职第一站：熟悉公司合同管理体系，参与法务部周例会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A0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051560"/>
            <a:ext cx="2468880" cy="2468880"/>
          </a:xfrm>
          <a:prstGeom prst="ellipse">
            <a:avLst/>
          </a:prstGeom>
          <a:ln>
            <a:noFill/>
          </a:ln>
          <a:blipFill dpi="0"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0F0F5"/>
                </a:solidFill>
              </a:rPr>
              <a:t>陈  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434840"/>
            <a:ext cx="1920239" cy="292608"/>
          </a:xfrm>
          <a:prstGeom prst="roundRect">
            <a:avLst/>
          </a:prstGeom>
          <a:solidFill>
            <a:srgbClr val="FF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管培生 · 数据分析方向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377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7575"/>
                </a:solidFill>
              </a:rPr>
              <a:t>「用广告思维做数据分析的复旦人」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8888A0"/>
                </a:solidFill>
              </a:rPr>
              <a:t>—— 既懂人心，又懂数据，还会写SQL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NEW MEMBER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48640"/>
            <a:ext cx="652179340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0F5"/>
                </a:solidFill>
              </a:rPr>
              <a:t>为什么选她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097280"/>
            <a:ext cx="6858000" cy="9601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575"/>
                </a:solidFill>
              </a:rPr>
              <a:t>🧠  大模型应用实战经验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53619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独立完成Hi-Agent接入大模型，实现自然语言转SQL智能问答——这是2026年的硬通货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194560"/>
            <a:ext cx="6858000" cy="9601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28600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575"/>
                </a:solidFill>
              </a:rPr>
              <a:t>📊  数据分析全链路能力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3347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从2万+评论清洗到大模型打分，从关联规则挖掘到商业建议——不是纸上谈兵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291839"/>
            <a:ext cx="6858000" cy="9601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383279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575"/>
                </a:solidFill>
              </a:rPr>
              <a:t>🎨  复旦广告学 + 数据辅修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730751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广告教会她洞察用户，数据教会她验证洞察——这种复合视角在管培生里很稀缺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572000"/>
            <a:ext cx="1645920" cy="292608"/>
          </a:xfrm>
          <a:prstGeom prst="roundRect">
            <a:avLst/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复旦大学 · 广告学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572000"/>
            <a:ext cx="1097280" cy="292608"/>
          </a:xfrm>
          <a:prstGeom prst="roundRect">
            <a:avLst/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数据智能辅修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572000"/>
            <a:ext cx="3154679" cy="292608"/>
          </a:xfrm>
          <a:prstGeom prst="roundRect">
            <a:avLst/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Python · SQL · Pandas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572000"/>
            <a:ext cx="1097280" cy="292608"/>
          </a:xfrm>
          <a:prstGeom prst="roundRect">
            <a:avLst/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关联规则挖掘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💬  同事可以找她聊：用数据怎么讲好一个故事、复旦食堂哪家强、AI工具怎么玩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5943600"/>
            <a:ext cx="6858000" cy="13716"/>
          </a:xfrm>
          <a:prstGeom prst="rect">
            <a:avLst/>
          </a:prstGeom>
          <a:solidFill>
            <a:srgbClr val="FF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6035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0F5"/>
                </a:solidFill>
              </a:rPr>
              <a:t>入职第一站：了解财务数据结构，参与数据报表体系搭建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A0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C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EF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051560"/>
            <a:ext cx="2468880" cy="2468880"/>
          </a:xfrm>
          <a:prstGeom prst="ellipse">
            <a:avLst/>
          </a:prstGeom>
          <a:ln>
            <a:noFill/>
          </a:ln>
          <a:blipFill dpi="0"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0F0F5"/>
                </a:solidFill>
              </a:rPr>
              <a:t>陈双杰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434840"/>
            <a:ext cx="1645920" cy="292608"/>
          </a:xfrm>
          <a:prstGeom prst="roundRect">
            <a:avLst/>
          </a:prstGeom>
          <a:solidFill>
            <a:srgbClr val="4EF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管培生 · 数据方向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377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EF085"/>
                </a:solidFill>
              </a:rPr>
              <a:t>「上海市优秀毕业生的硬核答卷」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8888A0"/>
                </a:solidFill>
              </a:rPr>
              <a:t>—— GPA 3.61，数据是他的第二语言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0"/>
                </a:solidFill>
              </a:rPr>
              <a:t>NEW MEMBER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48640"/>
            <a:ext cx="652179340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0F5"/>
                </a:solidFill>
              </a:rPr>
              <a:t>为什么选他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097280"/>
            <a:ext cx="6858000" cy="9601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F085"/>
                </a:solidFill>
              </a:rPr>
              <a:t>🏆  上海市优秀毕业生 + 特等奖学金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53619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GPA 3.61/4.0、专业前16%——成绩单就是最好的自我介绍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194560"/>
            <a:ext cx="6858000" cy="9601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28600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F085"/>
                </a:solidFill>
              </a:rPr>
              <a:t>📈  实战级数据分析能力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3347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AUC-ROC 0.89预测模型、K-means客群聚类、招商获客算法落地——直接能干活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291839"/>
            <a:ext cx="6858000" cy="96012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383279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F085"/>
                </a:solidFill>
              </a:rPr>
              <a:t>🔧  工具链完整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730751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Python/Pandas/Scikit-learn/SQL/R语言/Excel高级——财务数据处理的理想配置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572000"/>
            <a:ext cx="1097280" cy="292608"/>
          </a:xfrm>
          <a:prstGeom prst="round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上海海事大学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572000"/>
            <a:ext cx="1371600" cy="292608"/>
          </a:xfrm>
          <a:prstGeom prst="round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大数据管理与应用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572000"/>
            <a:ext cx="960120" cy="292608"/>
          </a:xfrm>
          <a:prstGeom prst="round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CET-6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572000"/>
            <a:ext cx="1097280" cy="292608"/>
          </a:xfrm>
          <a:prstGeom prst="round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A0A14"/>
                </a:solidFill>
              </a:rPr>
              <a:t>电商数据分析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A0"/>
                </a:solidFill>
              </a:rPr>
              <a:t>💬  同事可以找TA聊：怎么用Python偷懒、数据可视化技巧、上海哪里好吃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5943600"/>
            <a:ext cx="6858000" cy="13716"/>
          </a:xfrm>
          <a:prstGeom prst="rect">
            <a:avLst/>
          </a:prstGeom>
          <a:solidFill>
            <a:srgbClr val="4EF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6035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0F5"/>
                </a:solidFill>
              </a:rPr>
              <a:t>入职第一站：熟悉财务系统数据结构，参与数据看板搭建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A0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